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Department average wait time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wait (minutes)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Emergency</c:v>
                </c:pt>
                <c:pt idx="1">
                  <c:v>Laboratory</c:v>
                </c:pt>
                <c:pt idx="2">
                  <c:v>Outpatient</c:v>
                </c:pt>
                <c:pt idx="3">
                  <c:v>Radiology</c:v>
                </c:pt>
                <c:pt idx="4">
                  <c:v>Surgery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170.33333333333334</c:v>
                </c:pt>
                <c:pt idx="1">
                  <c:v>51.666666666666664</c:v>
                </c:pt>
                <c:pt idx="2">
                  <c:v>84.0</c:v>
                </c:pt>
                <c:pt idx="3">
                  <c:v>59.333333333333336</c:v>
                </c:pt>
                <c:pt idx="4">
                  <c:v>112.0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Mean utilisation by department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utilisation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Emergency</c:v>
                </c:pt>
                <c:pt idx="1">
                  <c:v>Laboratory</c:v>
                </c:pt>
                <c:pt idx="2">
                  <c:v>Outpatient</c:v>
                </c:pt>
                <c:pt idx="3">
                  <c:v>Radiology</c:v>
                </c:pt>
                <c:pt idx="4">
                  <c:v>Surgery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76.0</c:v>
                </c:pt>
                <c:pt idx="1">
                  <c:v>93.0</c:v>
                </c:pt>
                <c:pt idx="2">
                  <c:v>87.66666666666667</c:v>
                </c:pt>
                <c:pt idx="3">
                  <c:v>89.66666666666667</c:v>
                </c:pt>
                <c:pt idx="4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Percent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Mean feedback by department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feedback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Emergency</c:v>
                </c:pt>
                <c:pt idx="1">
                  <c:v>Laboratory</c:v>
                </c:pt>
                <c:pt idx="2">
                  <c:v>Outpatient</c:v>
                </c:pt>
                <c:pt idx="3">
                  <c:v>Radiology</c:v>
                </c:pt>
                <c:pt idx="4">
                  <c:v>Surgery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3.766666666666667</c:v>
                </c:pt>
                <c:pt idx="1">
                  <c:v>4.3</c:v>
                </c:pt>
                <c:pt idx="2">
                  <c:v>4.066666666666666</c:v>
                </c:pt>
                <c:pt idx="3">
                  <c:v>4.166666666666667</c:v>
                </c:pt>
                <c:pt idx="4">
                  <c:v>3.8666666666666667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Score (1–5)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5156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0B143"/>
                </a:solidFill>
                <a:latin typeface="Aptos"/>
              </a:defRPr>
            </a:pPr>
            <a:r>
              <a:t>BUSINESS ANALYSIS  /  PROCESS IMPROVEMENT  /  DATA 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515600" cy="12801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Enhancing Operational Efficiency</a:t>
            </a:r>
          </a:p>
          <a:p>
            <a:pPr>
              <a:spcAft>
                <a:spcPts val="4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in a Multispecialty Hospital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784080" cy="7772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DCE7ED"/>
                </a:solidFill>
                <a:latin typeface="Aptos"/>
              </a:defRPr>
            </a:pPr>
            <a:r>
              <a:t>An illustrative case study applying requirements, process mapping, descriptive analytics and risk management to hospital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9875520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Prepared by Kyle Vissie  |  Business Analyst Portfolio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0B143"/>
                </a:solidFill>
                <a:latin typeface="Aptos"/>
              </a:defRPr>
            </a:pPr>
            <a:r>
              <a:t>All figures are synthetic and illustrative. This is not an assessment of a real hospital.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94944"/>
            <a:ext cx="1005840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76A78"/>
                </a:solidFill>
                <a:latin typeface="Aptos"/>
              </a:defRPr>
            </a:pPr>
            <a:r>
              <a:t>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89920" cy="50292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Problem hypothesis: variable patient waits, delays and resource use may affect operational efficiency and service experience.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Scope: five departments tracked over three illustrative months (15 department-month observations).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Average wait across the sample is 95.5 minutes; Emergency and Surgery show the longest department means.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Average feedback is 4.03/5, but response counts are unavailable, limiting interpretation.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Recommendation: validate real operational data and run a controlled 30-day discovery/pilot in Emergency and Surgery.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Success measures should include agreed baselines, wait time, delay counts, feedback response rates and safety balancing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Case context and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94944"/>
            <a:ext cx="1005840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76A78"/>
                </a:solidFill>
                <a:latin typeface="Aptos"/>
              </a:defRPr>
            </a:pPr>
            <a:r>
              <a:t>Illustrative scenario — not a real hospital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89920" cy="50292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Scenario: hospital leaders want a consistent view of waiting time, delays, resource utilisation and patient feedback across departments.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Opportunity: standardise patient-flow measures, improve visibility of demand and capacity, and reduce avoidable handoff delays.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Primary question: which departments appear most constrained in the synthetic sample?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Secondary question: do longer waits appear alongside lower feedback scores in the sample?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Approach: document requirements, map a workflow, analyse sample data, assess risks and propose a measurable pilot.</a:t>
            </a:r>
          </a:p>
          <a:p>
            <a:pPr>
              <a:spcAft>
                <a:spcPts val="1000"/>
              </a:spcAft>
              <a:defRPr sz="1600">
                <a:solidFill>
                  <a:srgbClr val="18324A"/>
                </a:solidFill>
                <a:latin typeface="Aptos"/>
              </a:defRPr>
            </a:pPr>
            <a:r>
              <a:t>•  All findings are hypotheses for demonstration; a real engagement would require validated data and stakeholder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Business objectives and proposed success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3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2655417"/>
                <a:gridCol w="3208629"/>
                <a:gridCol w="2544775"/>
              </a:tblGrid>
              <a:tr h="7848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Proposed pilot target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Reduce avoidable waiting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Average wait minutes by department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10% reduction vs validated baseline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Operations lead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Improve flow reliability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Cancelled / delayed cases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10% reduction vs baseline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Department managers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Balance capacity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Resource utilisation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Investigate sustained &gt;90% or &lt;50% use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Resource coordinator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Improve patient experience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Feedback score (1–5)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Increase by ≥0.3 points; track response rate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Patient experience lead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Strengthen governance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Data completeness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≥95% required-field completeness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Data / quality lead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Targets are proposed pilot goals, not claims about actual performance or guaranteed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94944"/>
            <a:ext cx="1005840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76A78"/>
                </a:solidFill>
                <a:latin typeface="Aptos"/>
              </a:defRPr>
            </a:pPr>
            <a:r>
              <a:t>Business analysis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115568"/>
            <a:ext cx="457200" cy="45720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572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115568"/>
            <a:ext cx="182880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24A"/>
                </a:solidFill>
                <a:latin typeface="Aptos"/>
              </a:defRPr>
            </a:pPr>
            <a:r>
              <a:t>01 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115568"/>
            <a:ext cx="7863840" cy="34747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76A78"/>
                </a:solidFill>
                <a:latin typeface="Aptos"/>
              </a:defRPr>
            </a:pPr>
            <a:r>
              <a:t>Problem, objectives, scope and assumptions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4572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28800"/>
            <a:ext cx="182880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24A"/>
                </a:solidFill>
                <a:latin typeface="Aptos"/>
              </a:defRPr>
            </a:pPr>
            <a:r>
              <a:t>02  Engage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28800"/>
            <a:ext cx="7863840" cy="34747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76A78"/>
                </a:solidFill>
                <a:latin typeface="Aptos"/>
              </a:defRPr>
            </a:pPr>
            <a:r>
              <a:t>Stakeholders, influence and communication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542032"/>
            <a:ext cx="457200" cy="45720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4572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542032"/>
            <a:ext cx="182880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24A"/>
                </a:solidFill>
                <a:latin typeface="Aptos"/>
              </a:defRPr>
            </a:pPr>
            <a:r>
              <a:t>03  Specify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542032"/>
            <a:ext cx="7863840" cy="34747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76A78"/>
                </a:solidFill>
                <a:latin typeface="Aptos"/>
              </a:defRPr>
            </a:pPr>
            <a:r>
              <a:t>BRD, acceptance criteria and RTM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55263"/>
            <a:ext cx="457200" cy="45720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28415"/>
            <a:ext cx="4572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255263"/>
            <a:ext cx="182880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24A"/>
                </a:solidFill>
                <a:latin typeface="Aptos"/>
              </a:defRPr>
            </a:pPr>
            <a:r>
              <a:t>04 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255263"/>
            <a:ext cx="7863840" cy="34747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76A78"/>
                </a:solidFill>
                <a:latin typeface="Aptos"/>
              </a:defRPr>
            </a:pPr>
            <a:r>
              <a:t>As-is / to-be workflow and handoffs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68496"/>
            <a:ext cx="457200" cy="45720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41648"/>
            <a:ext cx="4572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68496"/>
            <a:ext cx="182880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24A"/>
                </a:solidFill>
                <a:latin typeface="Aptos"/>
              </a:defRPr>
            </a:pPr>
            <a:r>
              <a:t>05  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968496"/>
            <a:ext cx="7863840" cy="34747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76A78"/>
                </a:solidFill>
                <a:latin typeface="Aptos"/>
              </a:defRPr>
            </a:pPr>
            <a:r>
              <a:t>Data checks, KPIs and visualisation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681728"/>
            <a:ext cx="457200" cy="45720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4572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681728"/>
            <a:ext cx="182880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24A"/>
                </a:solidFill>
                <a:latin typeface="Aptos"/>
              </a:defRPr>
            </a:pPr>
            <a:r>
              <a:t>06  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681728"/>
            <a:ext cx="7863840" cy="34747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76A78"/>
                </a:solidFill>
                <a:latin typeface="Aptos"/>
              </a:defRPr>
            </a:pPr>
            <a:r>
              <a:t>Risk prioritisation and pilot design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394959"/>
            <a:ext cx="457200" cy="45720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68112"/>
            <a:ext cx="4572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394959"/>
            <a:ext cx="182880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8324A"/>
                </a:solidFill>
                <a:latin typeface="Aptos"/>
              </a:defRPr>
            </a:pPr>
            <a:r>
              <a:t>07  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394959"/>
            <a:ext cx="7863840" cy="34747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76A78"/>
                </a:solidFill>
                <a:latin typeface="Aptos"/>
              </a:defRPr>
            </a:pPr>
            <a:r>
              <a:t>Stakeholder review and controlled handover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Business requirements document (BRD)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21208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8991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212080" cy="10058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8324A"/>
                </a:solidFill>
                <a:latin typeface="Aptos"/>
              </a:defRPr>
            </a:pPr>
            <a:r>
              <a:t>Operational leaders may lack a single, validated view of waiting time, delays, resource use and patient feedback by department and period.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21208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8991"/>
                </a:solidFill>
                <a:latin typeface="Aptos"/>
              </a:defRPr>
            </a:pPr>
            <a:r>
              <a:t>BUSINESS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81328"/>
            <a:ext cx="5212080" cy="10058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8324A"/>
                </a:solidFill>
                <a:latin typeface="Aptos"/>
              </a:defRPr>
            </a:pPr>
            <a:r>
              <a:t>Create a repeatable measurement and review process to identify bottlenecks and evaluate improvement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21208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8991"/>
                </a:solidFill>
                <a:latin typeface="Aptos"/>
              </a:defRPr>
            </a:pPr>
            <a:r>
              <a:t>KEY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08960"/>
            <a:ext cx="5303520" cy="23774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Capture consistent timestamps and department identifiers.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Track volume, waits, delays, capacity and feedback.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Provide monthly KPI summaries and exception flags.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Assign owners for data quality and action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521208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E4949"/>
                </a:solidFill>
                <a:latin typeface="Aptos"/>
              </a:defRPr>
            </a:pPr>
            <a:r>
              <a:t>CONSTRAINTS &amp;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108960"/>
            <a:ext cx="5303520" cy="23774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Use aggregated/de-identified data for analysis.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Clinical safety and privacy rules take precedence.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Agree staffing and equipment definitions.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Synthetic data cannot validate real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Requirements traceability matrix (RTM)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8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98"/>
                <a:gridCol w="2811780"/>
                <a:gridCol w="1124712"/>
                <a:gridCol w="1799539"/>
                <a:gridCol w="3149193"/>
                <a:gridCol w="1574596"/>
              </a:tblGrid>
              <a:tr h="738051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Acceptance criteria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R01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Record department, period and patient volume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Must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Data lead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≥95% completeness; definitions documented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Data dictionary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R02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Measure average wait consistently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Must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Timestamp rules approved; baseline reported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KPI table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R03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Track delays / cancellations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Must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Department managers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Event types and reason codes agreed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Delay report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R04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Track resource utilisation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Should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Resource coordinator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Capacity denominator documented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Utilisation chart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R05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Summarise patient feedback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Should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Patient experience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Scale and response rate disclosed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Feedback chart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R06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Maintain action log and ownership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Must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Project sponsor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Each action has owner, due date and status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8324A"/>
                          </a:solidFill>
                        </a:defRPr>
                      </a:pPr>
                      <a:r>
                        <a:t>Action log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Stakeholder analysis and engagement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77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022"/>
                <a:gridCol w="1338681"/>
                <a:gridCol w="2677363"/>
                <a:gridCol w="3346703"/>
                <a:gridCol w="1784908"/>
              </a:tblGrid>
              <a:tr h="66620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Influence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Concern / interest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Engagement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Cadence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Executive sponsor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Benefits, cost, accountability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Decision brief; resolve escalations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Fortnightly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Department managers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Flow, staffing, performance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Co-design measures; review exceptions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Clinical / nursing staff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Med–high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Safe handoffs, workload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Workshops and feedback loops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Weekly in pilot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Data / IT team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Med–high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Definitions, access, data quality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Data dictionary and validation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Patient experience team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Feedback quality and response bias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Review survey design and trends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Patients / representatives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Communication and experience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Accessible feedback channels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Checkpoints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Decision rights: sponsor approves scope; clinical leadership approves any care-affecting workflow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Scope management and work breakdown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1115567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3346703"/>
                <a:gridCol w="4239158"/>
                <a:gridCol w="2454249"/>
              </a:tblGrid>
              <a:tr h="47679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Work package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Output / milestone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Initiation and alignment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Problem statement and scope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Analyst / sponsor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Requirements and definitions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BRD, RTM and data dictionary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Analyst / data lead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Process mapping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As-is and proposed to-be map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Analyst / department leads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Analysis and visualisation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KPI tables, charts and insight log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Analyst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Risk and recommendations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Risk register and pilot proposal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Analyst / sponsor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Validation and handover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Review and action log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Sponsor / owners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09160"/>
            <a:ext cx="521208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8991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212080" cy="9144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8324A"/>
                </a:solidFill>
                <a:latin typeface="Aptos"/>
              </a:defRPr>
            </a:pPr>
            <a:r>
              <a:t>Aggregated KPI review, process mapping, stakeholder engagement, pilot design and measurement.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709160"/>
            <a:ext cx="521208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E4949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029200"/>
            <a:ext cx="5212080" cy="9144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8324A"/>
                </a:solidFill>
                <a:latin typeface="Aptos"/>
              </a:defRPr>
            </a:pPr>
            <a:r>
              <a:t>Clinical decisions, diagnosis/treatment changes, production-system changes and claims about real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Process mapping: current-state hypothesis vs proposed future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521208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E4949"/>
                </a:solidFill>
                <a:latin typeface="Aptos"/>
              </a:defRPr>
            </a:pPr>
            <a:r>
              <a:t>AS-IS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97280"/>
            <a:ext cx="521208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8991"/>
                </a:solidFill>
                <a:latin typeface="Aptos"/>
              </a:defRPr>
            </a:pPr>
            <a:r>
              <a:t>TO-BE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BE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Arrival logged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39" y="1508760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BE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Manual triage /</a:t>
            </a:r>
          </a:p>
          <a:p>
            <a:pPr algn="ctr">
              <a:defRPr sz="1000">
                <a:solidFill>
                  <a:srgbClr val="18324A"/>
                </a:solidFill>
              </a:defRPr>
            </a:pPr>
            <a:r>
              <a:t>queue assignment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87752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BE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Department handoff /</a:t>
            </a:r>
          </a:p>
          <a:p>
            <a:pPr algn="ctr">
              <a:defRPr sz="1000">
                <a:solidFill>
                  <a:srgbClr val="18324A"/>
                </a:solidFill>
              </a:defRPr>
            </a:pPr>
            <a:r>
              <a:t>variable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39" y="2587752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BE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Service delivered /</a:t>
            </a:r>
          </a:p>
          <a:p>
            <a:pPr algn="ctr">
              <a:defRPr sz="1000">
                <a:solidFill>
                  <a:srgbClr val="18324A"/>
                </a:solidFill>
              </a:defRPr>
            </a:pPr>
            <a:r>
              <a:t>reason not standard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66744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BE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Outcome recorded /</a:t>
            </a:r>
          </a:p>
          <a:p>
            <a:pPr algn="ctr">
              <a:defRPr sz="1000">
                <a:solidFill>
                  <a:srgbClr val="18324A"/>
                </a:solidFill>
              </a:defRPr>
            </a:pPr>
            <a:r>
              <a:t>limited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Arrival timestamped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508760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Approved triage /</a:t>
            </a:r>
          </a:p>
          <a:p>
            <a:pPr algn="ctr">
              <a:defRPr sz="1000">
                <a:solidFill>
                  <a:srgbClr val="18324A"/>
                </a:solidFill>
              </a:defRPr>
            </a:pPr>
            <a:r>
              <a:t>priority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87752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Shared queue view /</a:t>
            </a:r>
          </a:p>
          <a:p>
            <a:pPr algn="ctr">
              <a:defRPr sz="1000">
                <a:solidFill>
                  <a:srgbClr val="18324A"/>
                </a:solidFill>
              </a:defRPr>
            </a:pPr>
            <a:r>
              <a:t>clear escalation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587752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Service delivered /</a:t>
            </a:r>
          </a:p>
          <a:p>
            <a:pPr algn="ctr">
              <a:defRPr sz="1000">
                <a:solidFill>
                  <a:srgbClr val="18324A"/>
                </a:solidFill>
              </a:defRPr>
            </a:pPr>
            <a:r>
              <a:t>exception reason logged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66744"/>
            <a:ext cx="2057400" cy="62179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8324A"/>
                </a:solidFill>
              </a:defRPr>
            </a:pPr>
            <a:r>
              <a:t>Outcome + feedback /</a:t>
            </a:r>
          </a:p>
          <a:p>
            <a:pPr algn="ctr">
              <a:defRPr sz="1000">
                <a:solidFill>
                  <a:srgbClr val="18324A"/>
                </a:solidFill>
              </a:defRPr>
            </a:pPr>
            <a:r>
              <a:t>KPI review and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76A78"/>
                </a:solidFill>
                <a:latin typeface="Aptos"/>
              </a:defRPr>
            </a:pPr>
            <a:r>
              <a:t>The as-is workflow is a hypothesis, not an observed fact. Validate with frontline staff; the to-be workflow is a proposal and requires clinical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Swimlane responsibilities and handoffs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30352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 desk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43000"/>
            <a:ext cx="4023360" cy="53035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8324A"/>
                </a:solidFill>
              </a:defRPr>
            </a:pPr>
            <a:r>
              <a:t>Register arrival and timestamp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197864"/>
            <a:ext cx="38404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76A78"/>
                </a:solidFill>
                <a:latin typeface="Aptos"/>
              </a:defRPr>
            </a:pPr>
            <a:r>
              <a:t>Arrival record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011680" cy="530352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Clinical triage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57400"/>
            <a:ext cx="4023360" cy="53035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8324A"/>
                </a:solidFill>
              </a:defRPr>
            </a:pPr>
            <a:r>
              <a:t>Assess priority using approved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112264"/>
            <a:ext cx="38404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76A78"/>
                </a:solidFill>
                <a:latin typeface="Aptos"/>
              </a:defRPr>
            </a:pPr>
            <a:r>
              <a:t>Priority / routing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011680" cy="530352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Department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971800"/>
            <a:ext cx="4023360" cy="53035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8324A"/>
                </a:solidFill>
              </a:defRPr>
            </a:pPr>
            <a:r>
              <a:t>Confirm capacity and accept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026664"/>
            <a:ext cx="38404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76A78"/>
                </a:solidFill>
                <a:latin typeface="Aptos"/>
              </a:defRPr>
            </a:pPr>
            <a:r>
              <a:t>Accepted handoff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2011680" cy="530352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Operations /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886200"/>
            <a:ext cx="4023360" cy="53035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8324A"/>
                </a:solidFill>
              </a:defRPr>
            </a:pPr>
            <a:r>
              <a:t>Monitor queue and log exceptions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941063"/>
            <a:ext cx="38404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76A78"/>
                </a:solidFill>
                <a:latin typeface="Aptos"/>
              </a:defRPr>
            </a:pPr>
            <a:r>
              <a:t>Queue / exception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00600"/>
            <a:ext cx="2011680" cy="530352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Service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800600"/>
            <a:ext cx="4023360" cy="530352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8324A"/>
                </a:solidFill>
              </a:defRPr>
            </a:pPr>
            <a:r>
              <a:t>Review KPI and assign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855464"/>
            <a:ext cx="38404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76A78"/>
                </a:solidFill>
                <a:latin typeface="Aptos"/>
              </a:defRPr>
            </a:pPr>
            <a:r>
              <a:t>Owner, due date,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Illustrative swimlane; confirm role boundaries, escalation thresholds and safety requirements with the hospital.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Data analysis: dataset overview and quality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2606040" cy="1417320"/>
          </a:xfrm>
          <a:prstGeom prst="roundRect">
            <a:avLst/>
          </a:prstGeom>
          <a:solidFill>
            <a:srgbClr val="EFF5F8"/>
          </a:solidFill>
          <a:ln>
            <a:solidFill>
              <a:srgbClr val="DB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280160"/>
            <a:ext cx="2350008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76A78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554480"/>
            <a:ext cx="2350008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00899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057400"/>
            <a:ext cx="2350008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5 departments × 3 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606040" cy="1417320"/>
          </a:xfrm>
          <a:prstGeom prst="roundRect">
            <a:avLst/>
          </a:prstGeom>
          <a:solidFill>
            <a:srgbClr val="EFF5F8"/>
          </a:solidFill>
          <a:ln>
            <a:solidFill>
              <a:srgbClr val="DB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280160"/>
            <a:ext cx="2350008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76A78"/>
                </a:solidFill>
                <a:latin typeface="Aptos"/>
              </a:defRPr>
            </a:pPr>
            <a:r>
              <a:t>PATIENT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1554480"/>
            <a:ext cx="2350008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008991"/>
                </a:solidFill>
                <a:latin typeface="Aptos"/>
              </a:defRPr>
            </a:pPr>
            <a:r>
              <a:t>5,242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057400"/>
            <a:ext cx="2350008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Synthetic sample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88720"/>
            <a:ext cx="2606040" cy="1417320"/>
          </a:xfrm>
          <a:prstGeom prst="roundRect">
            <a:avLst/>
          </a:prstGeom>
          <a:solidFill>
            <a:srgbClr val="EFF5F8"/>
          </a:solidFill>
          <a:ln>
            <a:solidFill>
              <a:srgbClr val="DB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280160"/>
            <a:ext cx="2350008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76A78"/>
                </a:solidFill>
                <a:latin typeface="Aptos"/>
              </a:defRPr>
            </a:pPr>
            <a:r>
              <a:t>AVERAGE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554480"/>
            <a:ext cx="2350008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008991"/>
                </a:solidFill>
                <a:latin typeface="Aptos"/>
              </a:defRPr>
            </a:pPr>
            <a:r>
              <a:t>95.5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057400"/>
            <a:ext cx="2350008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Across department-month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188720"/>
            <a:ext cx="2606040" cy="1417320"/>
          </a:xfrm>
          <a:prstGeom prst="roundRect">
            <a:avLst/>
          </a:prstGeom>
          <a:solidFill>
            <a:srgbClr val="EFF5F8"/>
          </a:solidFill>
          <a:ln>
            <a:solidFill>
              <a:srgbClr val="DB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280160"/>
            <a:ext cx="2350008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76A78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1554480"/>
            <a:ext cx="2350008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008991"/>
                </a:solidFill>
                <a:latin typeface="Aptos"/>
              </a:defRPr>
            </a:pPr>
            <a:r>
              <a:t>4.03/5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057400"/>
            <a:ext cx="2350008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Response counts unavailable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926080"/>
            <a:ext cx="521208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8991"/>
                </a:solidFill>
                <a:latin typeface="Aptos"/>
              </a:defRPr>
            </a:pPr>
            <a:r>
              <a:t>ANALYSIS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91840"/>
            <a:ext cx="5212080" cy="21945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Check missing values, valid ranges and duplicate department-month rows.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Aggregate by department; compare waits, delays, utilisation and feedback.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Investigate outliers instead of automatically deleting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521208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E4949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291840"/>
            <a:ext cx="5212080" cy="2286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Small synthetic sample; no patient-level records.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No case-mix, acuity, shift or time-of-day adjustment.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No feedback response counts or confidence intervals.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Descriptive patterns do not prove causation.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Data analysis: department-level pivot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79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755648"/>
                <a:gridCol w="1755648"/>
                <a:gridCol w="1755648"/>
                <a:gridCol w="1865376"/>
                <a:gridCol w="1645919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Patient volume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wait (min)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Delay count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utilisation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Feedback / 5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Emergency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1,263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170.3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76.0%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3.77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Laboratory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1,213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51.7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93.0%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4.30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Outpatient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1,583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84.0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87.7%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4.07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Radiology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815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59.3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89.7%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4.17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Surgery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368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112.0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324A"/>
                          </a:solidFill>
                        </a:defRPr>
                      </a:pPr>
                      <a:r>
                        <a:t>3.87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74920"/>
            <a:ext cx="10789920" cy="6858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8324A"/>
                </a:solidFill>
                <a:latin typeface="Aptos"/>
              </a:defRPr>
            </a:pPr>
            <a:r>
              <a:t>Interpretation: Emergency has the longest mean wait (170.3 min); Surgery also has long waits (112.0 min) and increasing delays across the sample months. These are synthetic patterns to investigate, not real findings.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Data visualisation: average wait by department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09728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58200" y="1417320"/>
            <a:ext cx="2971800" cy="1417320"/>
          </a:xfrm>
          <a:prstGeom prst="roundRect">
            <a:avLst/>
          </a:prstGeom>
          <a:solidFill>
            <a:srgbClr val="EFF5F8"/>
          </a:solidFill>
          <a:ln>
            <a:solidFill>
              <a:srgbClr val="DB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86216" y="1508760"/>
            <a:ext cx="2715768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76A78"/>
                </a:solidFill>
                <a:latin typeface="Aptos"/>
              </a:defRPr>
            </a:pPr>
            <a:r>
              <a:t>HIGHEST IN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6216" y="1783080"/>
            <a:ext cx="2715768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008991"/>
                </a:solidFill>
                <a:latin typeface="Aptos"/>
              </a:defRPr>
            </a:pPr>
            <a:r>
              <a:t>170.3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6216" y="2286000"/>
            <a:ext cx="2715768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Emergency mean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08960"/>
            <a:ext cx="2971800" cy="1417320"/>
          </a:xfrm>
          <a:prstGeom prst="roundRect">
            <a:avLst/>
          </a:prstGeom>
          <a:solidFill>
            <a:srgbClr val="EFF5F8"/>
          </a:solidFill>
          <a:ln>
            <a:solidFill>
              <a:srgbClr val="DB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6216" y="3200400"/>
            <a:ext cx="2715768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76A78"/>
                </a:solidFill>
                <a:latin typeface="Aptos"/>
              </a:defRPr>
            </a:pPr>
            <a:r>
              <a:t>SECOND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216" y="3474720"/>
            <a:ext cx="2715768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F0B143"/>
                </a:solidFill>
                <a:latin typeface="Aptos"/>
              </a:defRPr>
            </a:pPr>
            <a:r>
              <a:t>112.0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6" y="3977639"/>
            <a:ext cx="2715768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Surgery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892040"/>
            <a:ext cx="2834640" cy="7772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76A78"/>
                </a:solidFill>
                <a:latin typeface="Aptos"/>
              </a:defRPr>
            </a:pPr>
            <a:r>
              <a:t>Discovery focus: arrival patterns, handoff delays and time-to-service.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Data visualisation: resource utilisation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09728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66760" y="1417320"/>
            <a:ext cx="3200400" cy="3840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Emergency and Surgery are relatively highly utilised in this sample.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Laboratory shows high utilisation but lower mean waits.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Utilisation is not a performance score; capacity definitions and demand profiles must be checked.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Data visualisation: patient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09728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58200" y="1417320"/>
            <a:ext cx="2971800" cy="1417320"/>
          </a:xfrm>
          <a:prstGeom prst="roundRect">
            <a:avLst/>
          </a:prstGeom>
          <a:solidFill>
            <a:srgbClr val="EFF5F8"/>
          </a:solidFill>
          <a:ln>
            <a:solidFill>
              <a:srgbClr val="DB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86216" y="1508760"/>
            <a:ext cx="2715768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76A78"/>
                </a:solidFill>
                <a:latin typeface="Aptos"/>
              </a:defRPr>
            </a:pPr>
            <a:r>
              <a:t>SAMPLE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6216" y="1783080"/>
            <a:ext cx="2715768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008991"/>
                </a:solidFill>
                <a:latin typeface="Aptos"/>
              </a:defRPr>
            </a:pPr>
            <a:r>
              <a:t>4.03/5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6216" y="2286000"/>
            <a:ext cx="2715768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Illustrative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246120"/>
            <a:ext cx="2743200" cy="1463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76A78"/>
                </a:solidFill>
                <a:latin typeface="Aptos"/>
              </a:defRPr>
            </a:pPr>
            <a:r>
              <a:t>Next step: collect response counts and survey timing; check for response bias before comparing scores with waiting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Department efficiency heat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94944"/>
            <a:ext cx="1005840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76A78"/>
                </a:solidFill>
                <a:latin typeface="Aptos"/>
              </a:defRPr>
            </a:pPr>
            <a:r>
              <a:t>Descriptive bands for this exercise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75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465"/>
                <a:gridCol w="1338681"/>
                <a:gridCol w="1673351"/>
                <a:gridCol w="1450238"/>
                <a:gridCol w="1673351"/>
                <a:gridCol w="1450238"/>
                <a:gridCol w="1673351"/>
              </a:tblGrid>
              <a:tr h="7086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Avg wait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Wait band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Utilisation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Use band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Feedback band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Emergency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170.3 min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76.0%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3.77/5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Laboratory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51.7 min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93.0%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4.30/5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Stronger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Outpatient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84.0 min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87.7%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4.07/5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Mid-range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Radiology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59.3 min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89.7%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4.17/5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Mid-range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Surgery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112.0 min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3.87/5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Bands are illustrative thresholds, not clinical ratings. Agree meaningful thresholds with operational stakeholders before 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Risk register and prioritisation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98"/>
                <a:gridCol w="3261664"/>
                <a:gridCol w="1349654"/>
                <a:gridCol w="674827"/>
                <a:gridCol w="674827"/>
                <a:gridCol w="1237183"/>
                <a:gridCol w="3261664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K1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Poor data quality / inconsistent timestamps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Data dictionary; validation checks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K2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Workflow change disrupts safe care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Clinical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Clinical approval; pilot stop criteria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K3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Staff resistance / low adoption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People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Co-design; training; feedback loop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K4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Capacity metrics misinterpreted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Define denominator; report caveats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K5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Privacy / unauthorised access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Privacy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Aggregate data; access controls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52160"/>
            <a:ext cx="1078992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Likelihood and impact use illustrative 1–5 scores. High priority means controls must be validated before a pilot.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SWOT and contingency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349240" cy="1920240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34440"/>
            <a:ext cx="5020055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8991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5020055" cy="1371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8324A"/>
                </a:solidFill>
                <a:latin typeface="Aptos"/>
              </a:defRPr>
            </a:pPr>
            <a:r>
              <a:t>• Operational expertise may be available</a:t>
            </a:r>
          </a:p>
          <a:p>
            <a:pPr>
              <a:spcAft>
                <a:spcPts val="400"/>
              </a:spcAft>
              <a:defRPr sz="1100" b="0">
                <a:solidFill>
                  <a:srgbClr val="18324A"/>
                </a:solidFill>
                <a:latin typeface="Aptos"/>
              </a:defRPr>
            </a:pPr>
            <a:r>
              <a:t>• Cross-functional teams can validate handoffs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1920240"/>
          </a:xfrm>
          <a:prstGeom prst="roundRect">
            <a:avLst/>
          </a:prstGeom>
          <a:solidFill>
            <a:srgbClr val="EFF5F8"/>
          </a:solidFill>
          <a:ln>
            <a:solidFill>
              <a:srgbClr val="3A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234440"/>
            <a:ext cx="5020055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A8260"/>
                </a:solidFill>
                <a:latin typeface="Aptos"/>
              </a:defRPr>
            </a:pPr>
            <a: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618488"/>
            <a:ext cx="5020055" cy="1371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8324A"/>
                </a:solidFill>
                <a:latin typeface="Aptos"/>
              </a:defRPr>
            </a:pPr>
            <a:r>
              <a:t>• Standardise KPI definitions</a:t>
            </a:r>
          </a:p>
          <a:p>
            <a:pPr>
              <a:spcAft>
                <a:spcPts val="400"/>
              </a:spcAft>
              <a:defRPr sz="1100" b="0">
                <a:solidFill>
                  <a:srgbClr val="18324A"/>
                </a:solidFill>
                <a:latin typeface="Aptos"/>
              </a:defRPr>
            </a:pPr>
            <a:r>
              <a:t>• Use short pilot cycles and action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83280"/>
            <a:ext cx="5349240" cy="1920240"/>
          </a:xfrm>
          <a:prstGeom prst="roundRect">
            <a:avLst/>
          </a:prstGeom>
          <a:solidFill>
            <a:srgbClr val="EFF5F8"/>
          </a:solidFill>
          <a:ln>
            <a:solidFill>
              <a:srgbClr val="F0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474720"/>
            <a:ext cx="5020055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0B143"/>
                </a:solidFill>
                <a:latin typeface="Aptos"/>
              </a:defRPr>
            </a:pPr>
            <a:r>
              <a:t>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58768"/>
            <a:ext cx="5020055" cy="1371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8324A"/>
                </a:solidFill>
                <a:latin typeface="Aptos"/>
              </a:defRPr>
            </a:pPr>
            <a:r>
              <a:t>• Fragmented data is a hypothesis</a:t>
            </a:r>
          </a:p>
          <a:p>
            <a:pPr>
              <a:spcAft>
                <a:spcPts val="400"/>
              </a:spcAft>
              <a:defRPr sz="1100" b="0">
                <a:solidFill>
                  <a:srgbClr val="18324A"/>
                </a:solidFill>
                <a:latin typeface="Aptos"/>
              </a:defRPr>
            </a:pPr>
            <a:r>
              <a:t>• Small sample cannot establish causes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349240" cy="1920240"/>
          </a:xfrm>
          <a:prstGeom prst="roundRect">
            <a:avLst/>
          </a:prstGeom>
          <a:solidFill>
            <a:srgbClr val="EFF5F8"/>
          </a:solidFill>
          <a:ln>
            <a:solidFill>
              <a:srgbClr val="BE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474720"/>
            <a:ext cx="5020055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E4949"/>
                </a:solidFill>
                <a:latin typeface="Aptos"/>
              </a:defRPr>
            </a:pPr>
            <a: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858768"/>
            <a:ext cx="5020055" cy="1371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8324A"/>
                </a:solidFill>
                <a:latin typeface="Aptos"/>
              </a:defRPr>
            </a:pPr>
            <a:r>
              <a:t>• Privacy breach or unsafe change</a:t>
            </a:r>
          </a:p>
          <a:p>
            <a:pPr>
              <a:spcAft>
                <a:spcPts val="400"/>
              </a:spcAft>
              <a:defRPr sz="1100" b="0">
                <a:solidFill>
                  <a:srgbClr val="18324A"/>
                </a:solidFill>
                <a:latin typeface="Aptos"/>
              </a:defRPr>
            </a:pPr>
            <a:r>
              <a:t>• Staffing pressures and low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Contingency: pause the pilot if safety, privacy, data integrity or service-quality thresholds are breached; revert to approved workflow and escalate.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Key findings and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30352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8991"/>
                </a:solidFill>
                <a:latin typeface="Aptos"/>
              </a:defRPr>
            </a:pPr>
            <a:r>
              <a:t>FINDINGS FROM THE SIMULATED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03520" cy="42062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Mean wait is 95.5 minutes across 15 department-month rows.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Emergency (170.3 min) and Surgery (112.0 min) have the longest department means.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Emergency utilisation is relatively high; Surgery delay counts rise from 16 to 18.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Feedback averages 4.03/5, but response counts are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30352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8991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42062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Validate definitions, timestamps and data completeness with owners.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Run a 30-day discovery/pilot in Emergency and Surgery with frontline input.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Introduce weekly KPI reviews, named action owners and an exception log.</a:t>
            </a:r>
          </a:p>
          <a:p>
            <a:pPr>
              <a:spcAft>
                <a:spcPts val="1000"/>
              </a:spcAft>
              <a:defRPr sz="1200">
                <a:solidFill>
                  <a:srgbClr val="18324A"/>
                </a:solidFill>
                <a:latin typeface="Aptos"/>
              </a:defRPr>
            </a:pPr>
            <a:r>
              <a:t>•  Compare baseline vs pilot with safety balancing measures and feedback response rate.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30-day pilot roadmap and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60320" cy="3291840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45920"/>
            <a:ext cx="224028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03120"/>
            <a:ext cx="22402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8324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97480"/>
            <a:ext cx="2240280" cy="1463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76A78"/>
                </a:solidFill>
                <a:latin typeface="Aptos"/>
              </a:defRPr>
            </a:pPr>
            <a:r>
              <a:t>Confirm definitions, baseline, stakeholders and safety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60320" cy="3291840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45920"/>
            <a:ext cx="224028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103120"/>
            <a:ext cx="22402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8324A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697480"/>
            <a:ext cx="2240280" cy="1463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76A78"/>
                </a:solidFill>
                <a:latin typeface="Aptos"/>
              </a:defRPr>
            </a:pPr>
            <a:r>
              <a:t>Observe workflow, map handoffs and analyse delay reasons.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60320" cy="3291840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645920"/>
            <a:ext cx="224028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03120"/>
            <a:ext cx="22402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8324A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697480"/>
            <a:ext cx="2240280" cy="1463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76A78"/>
                </a:solidFill>
                <a:latin typeface="Aptos"/>
              </a:defRPr>
            </a:pPr>
            <a:r>
              <a:t>Trial one approved low-risk improvement with frontline sign-off.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417320"/>
            <a:ext cx="2560320" cy="3291840"/>
          </a:xfrm>
          <a:prstGeom prst="roundRect">
            <a:avLst/>
          </a:prstGeom>
          <a:solidFill>
            <a:srgbClr val="EFF5F8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1645920"/>
            <a:ext cx="224028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103120"/>
            <a:ext cx="224028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8324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697480"/>
            <a:ext cx="2240280" cy="1463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76A78"/>
                </a:solidFill>
                <a:latin typeface="Aptos"/>
              </a:defRPr>
            </a:pPr>
            <a:r>
              <a:t>Compare metrics, gather feedback and document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789920" cy="6858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8324A"/>
                </a:solidFill>
                <a:latin typeface="Aptos"/>
              </a:defRPr>
            </a:pPr>
            <a:r>
              <a:t>Governance: weekly operational review; sponsor checkpoints; clinical approval before workflow tests; maintain decision and action logs.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5156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0B14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772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A measurable improvement opportunity — subject to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332720" cy="34747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The sample demonstrates how requirements, process maps, KPIs and risk controls fit together.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Emergency and Surgery are discovery candidates in this illustrative dataset, not confirmed real-world problem areas.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Recommendations prioritise data validation, frontline engagement and a controlled 30-day pilot.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Success depends on clinical safety, agreed baselines, clear ownership and transparent measurement.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05840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0B143"/>
                </a:solidFill>
                <a:latin typeface="Aptos"/>
              </a:defRPr>
            </a:pPr>
            <a:r>
              <a:t>Next step: validate with real stakeholders and approved, appropriately aggregated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8324A"/>
                </a:solidFill>
                <a:latin typeface="Aptos"/>
              </a:defRPr>
            </a:pPr>
            <a:r>
              <a:t>Appendix: KPI definitions and data dictionary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7772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1064240" cy="146304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76A78"/>
                </a:solidFill>
                <a:latin typeface="Aptos"/>
              </a:defRPr>
            </a:pPr>
            <a:r>
              <a:t>PORTFOLIO CASE STUDY  •  SIMULATED DATA  •  NOT A REAL HOSPITAL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022"/>
                <a:gridCol w="4016044"/>
                <a:gridCol w="5131612"/>
              </a:tblGrid>
              <a:tr h="646611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KPI / field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Definition in this exercise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Validation needed in real project</a:t>
                      </a:r>
                    </a:p>
                  </a:txBody>
                  <a:tcPr>
                    <a:solidFill>
                      <a:srgbClr val="18324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Average wait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Department-month average in minutes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Agree start/end timestamps; segment by acuity and visit type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Delay / cancellation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Count supplied for department-month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Define included event types and reasons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Resource utilisation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Synthetic percent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Confirm numerator, denominator, available hours and planned capacity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Patient feedback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Average score from 1 to 5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Add response count, timing, question wording and missingness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Patient volume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Count in department-month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Confirm inclusion rules, transfers and duplicates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Staff / equipment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Illustrative units for context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324A"/>
                          </a:solidFill>
                        </a:defRPr>
                      </a:pPr>
                      <a:r>
                        <a:t>Validate shifts, availability and service demand</a:t>
                      </a:r>
                    </a:p>
                  </a:txBody>
                  <a:tcPr marL="45720" marR="36576" marT="22860" marB="22860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97880"/>
            <a:ext cx="1078992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76A78"/>
                </a:solidFill>
                <a:latin typeface="Aptos"/>
              </a:defRPr>
            </a:pPr>
            <a:r>
              <a:t>Workbook includes the synthetic dataset and data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